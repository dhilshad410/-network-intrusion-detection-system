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75794" y="1647206"/>
            <a:ext cx="384353" cy="384353"/>
            <a:chOff x="0" y="0"/>
            <a:chExt cx="512470" cy="5124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30BEB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85735" y="2745343"/>
            <a:ext cx="384353" cy="384353"/>
            <a:chOff x="0" y="0"/>
            <a:chExt cx="512470" cy="5124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30BEB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452186" y="3843480"/>
            <a:ext cx="384353" cy="384353"/>
            <a:chOff x="0" y="0"/>
            <a:chExt cx="512470" cy="5124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30BEB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334804" y="4941618"/>
            <a:ext cx="384353" cy="384353"/>
            <a:chOff x="0" y="0"/>
            <a:chExt cx="512470" cy="5124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30BEB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413059" y="6588824"/>
            <a:ext cx="384353" cy="384353"/>
            <a:chOff x="0" y="0"/>
            <a:chExt cx="512470" cy="5124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30BEB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72068" y="7412431"/>
            <a:ext cx="384353" cy="384353"/>
            <a:chOff x="0" y="0"/>
            <a:chExt cx="512470" cy="5124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89577" y="1637738"/>
            <a:ext cx="11896639" cy="2777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NETWORK INTRUSION</a:t>
            </a:r>
          </a:p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DETECTION</a:t>
            </a:r>
          </a:p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30BEB4"/>
                </a:solidFill>
                <a:latin typeface="Calibri (MS)"/>
                <a:ea typeface="Calibri (MS)"/>
                <a:cs typeface="Calibri (MS)"/>
                <a:sym typeface="Calibri (MS)"/>
              </a:rPr>
              <a:t>Using Machine Learning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18445" y="5483542"/>
            <a:ext cx="7838532" cy="2279209"/>
            <a:chOff x="0" y="0"/>
            <a:chExt cx="10451376" cy="30389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51338" cy="3038856"/>
            </a:xfrm>
            <a:custGeom>
              <a:avLst/>
              <a:gdLst/>
              <a:ahLst/>
              <a:cxnLst/>
              <a:rect r="r" b="b" t="t" l="l"/>
              <a:pathLst>
                <a:path h="3038856" w="10451338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25588" y="5490686"/>
            <a:ext cx="82363" cy="2264912"/>
            <a:chOff x="0" y="0"/>
            <a:chExt cx="109817" cy="30198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855" cy="3019933"/>
            </a:xfrm>
            <a:custGeom>
              <a:avLst/>
              <a:gdLst/>
              <a:ahLst/>
              <a:cxnLst/>
              <a:rect r="r" b="b" t="t" l="l"/>
              <a:pathLst>
                <a:path h="3019933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64116" y="5643982"/>
            <a:ext cx="7202100" cy="195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Details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Student: Muhammed Dhilshad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Course / Batch: Data Science / B1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Institution: TRYCOD Tech School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Guide / Mentor: Faizal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76092" y="7062111"/>
            <a:ext cx="6328591" cy="1318336"/>
            <a:chOff x="0" y="0"/>
            <a:chExt cx="8438121" cy="17577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38134" cy="1757807"/>
            </a:xfrm>
            <a:custGeom>
              <a:avLst/>
              <a:gdLst/>
              <a:ahLst/>
              <a:cxnLst/>
              <a:rect r="r" b="b" t="t" l="l"/>
              <a:pathLst>
                <a:path h="1757807" w="8438134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8145145" y="0"/>
                  </a:lnTo>
                  <a:cubicBezTo>
                    <a:pt x="8306943" y="0"/>
                    <a:pt x="8438134" y="131191"/>
                    <a:pt x="8438134" y="292989"/>
                  </a:cubicBezTo>
                  <a:lnTo>
                    <a:pt x="8438134" y="1464818"/>
                  </a:lnTo>
                  <a:cubicBezTo>
                    <a:pt x="8438134" y="1626616"/>
                    <a:pt x="8306943" y="1757807"/>
                    <a:pt x="8145145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883245" y="7069264"/>
            <a:ext cx="82363" cy="1304039"/>
            <a:chOff x="0" y="0"/>
            <a:chExt cx="109817" cy="17387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855" cy="1738757"/>
            </a:xfrm>
            <a:custGeom>
              <a:avLst/>
              <a:gdLst/>
              <a:ahLst/>
              <a:cxnLst/>
              <a:rect r="r" b="b" t="t" l="l"/>
              <a:pathLst>
                <a:path h="1738757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738757"/>
                  </a:lnTo>
                  <a:lnTo>
                    <a:pt x="0" y="1738757"/>
                  </a:lnTo>
                  <a:close/>
                </a:path>
              </a:pathLst>
            </a:custGeom>
            <a:solidFill>
              <a:srgbClr val="4CCD8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221763" y="7222550"/>
            <a:ext cx="5692159" cy="99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Forest ⭐  |  Classification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9828333"/>
            <a:ext cx="16472068" cy="27451"/>
            <a:chOff x="0" y="0"/>
            <a:chExt cx="21962758" cy="366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11D3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6288979" y="9886664"/>
            <a:ext cx="915257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430901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&amp;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861" y="1411948"/>
            <a:ext cx="15877384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Detect suspicious network traffic quickly and support automated security monitoring.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5092" y="1983229"/>
            <a:ext cx="7907169" cy="2965542"/>
            <a:chOff x="0" y="0"/>
            <a:chExt cx="10542892" cy="39540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42905" cy="3954018"/>
            </a:xfrm>
            <a:custGeom>
              <a:avLst/>
              <a:gdLst/>
              <a:ahLst/>
              <a:cxnLst/>
              <a:rect r="r" b="b" t="t" l="l"/>
              <a:pathLst>
                <a:path h="3954018" w="10542905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9883902" y="0"/>
                  </a:lnTo>
                  <a:cubicBezTo>
                    <a:pt x="10247884" y="0"/>
                    <a:pt x="10542905" y="295021"/>
                    <a:pt x="10542905" y="659003"/>
                  </a:cubicBezTo>
                  <a:lnTo>
                    <a:pt x="10542905" y="3295015"/>
                  </a:lnTo>
                  <a:cubicBezTo>
                    <a:pt x="10542905" y="3658997"/>
                    <a:pt x="10247884" y="3954018"/>
                    <a:pt x="9883902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1990373"/>
            <a:ext cx="82363" cy="2951245"/>
            <a:chOff x="0" y="0"/>
            <a:chExt cx="109817" cy="3934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55" cy="3934968"/>
            </a:xfrm>
            <a:custGeom>
              <a:avLst/>
              <a:gdLst/>
              <a:ahLst/>
              <a:cxnLst/>
              <a:rect r="r" b="b" t="t" l="l"/>
              <a:pathLst>
                <a:path h="39349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934968"/>
                  </a:lnTo>
                  <a:lnTo>
                    <a:pt x="0" y="3934968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0754" y="2134143"/>
            <a:ext cx="7270728" cy="2651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Can ML detect malicious network traffic and cyber attacks so organizations can identify suspicious activity quickly?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85092" y="5346278"/>
            <a:ext cx="7907169" cy="2965542"/>
            <a:chOff x="0" y="0"/>
            <a:chExt cx="10542892" cy="39540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42905" cy="3954018"/>
            </a:xfrm>
            <a:custGeom>
              <a:avLst/>
              <a:gdLst/>
              <a:ahLst/>
              <a:cxnLst/>
              <a:rect r="r" b="b" t="t" l="l"/>
              <a:pathLst>
                <a:path h="3954018" w="10542905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9883902" y="0"/>
                  </a:lnTo>
                  <a:cubicBezTo>
                    <a:pt x="10247884" y="0"/>
                    <a:pt x="10542905" y="295021"/>
                    <a:pt x="10542905" y="659003"/>
                  </a:cubicBezTo>
                  <a:lnTo>
                    <a:pt x="10542905" y="3295015"/>
                  </a:lnTo>
                  <a:cubicBezTo>
                    <a:pt x="10542905" y="3658997"/>
                    <a:pt x="10247884" y="3954018"/>
                    <a:pt x="9883902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92235" y="5353421"/>
            <a:ext cx="82363" cy="2951245"/>
            <a:chOff x="0" y="0"/>
            <a:chExt cx="109817" cy="39349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855" cy="3934968"/>
            </a:xfrm>
            <a:custGeom>
              <a:avLst/>
              <a:gdLst/>
              <a:ahLst/>
              <a:cxnLst/>
              <a:rect r="r" b="b" t="t" l="l"/>
              <a:pathLst>
                <a:path h="393496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934968"/>
                  </a:lnTo>
                  <a:lnTo>
                    <a:pt x="0" y="3934968"/>
                  </a:lnTo>
                  <a:close/>
                </a:path>
              </a:pathLst>
            </a:custGeom>
            <a:solidFill>
              <a:srgbClr val="F6C23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30754" y="5497182"/>
            <a:ext cx="7270728" cy="2651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Matters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Modern networks generate large volumes of traffic. Manual monitoring can miss threats or detect them too late.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58386" y="1983229"/>
            <a:ext cx="8044434" cy="6328591"/>
            <a:chOff x="0" y="0"/>
            <a:chExt cx="10725912" cy="84381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25912" cy="8438134"/>
            </a:xfrm>
            <a:custGeom>
              <a:avLst/>
              <a:gdLst/>
              <a:ahLst/>
              <a:cxnLst/>
              <a:rect r="r" b="b" t="t" l="l"/>
              <a:pathLst>
                <a:path h="8438134" w="10725912">
                  <a:moveTo>
                    <a:pt x="0" y="1406398"/>
                  </a:moveTo>
                  <a:cubicBezTo>
                    <a:pt x="0" y="629666"/>
                    <a:pt x="629666" y="0"/>
                    <a:pt x="1406398" y="0"/>
                  </a:cubicBezTo>
                  <a:lnTo>
                    <a:pt x="9319514" y="0"/>
                  </a:lnTo>
                  <a:cubicBezTo>
                    <a:pt x="10096246" y="0"/>
                    <a:pt x="10725912" y="629666"/>
                    <a:pt x="10725912" y="1406398"/>
                  </a:cubicBezTo>
                  <a:lnTo>
                    <a:pt x="10725912" y="7031736"/>
                  </a:lnTo>
                  <a:cubicBezTo>
                    <a:pt x="10725912" y="7808468"/>
                    <a:pt x="10096246" y="8438134"/>
                    <a:pt x="9319514" y="8438134"/>
                  </a:cubicBezTo>
                  <a:lnTo>
                    <a:pt x="1406398" y="8438134"/>
                  </a:lnTo>
                  <a:cubicBezTo>
                    <a:pt x="629666" y="8438134"/>
                    <a:pt x="0" y="7808468"/>
                    <a:pt x="0" y="7031736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265539" y="1990373"/>
            <a:ext cx="82363" cy="6314294"/>
            <a:chOff x="0" y="0"/>
            <a:chExt cx="109817" cy="84190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855" cy="8419084"/>
            </a:xfrm>
            <a:custGeom>
              <a:avLst/>
              <a:gdLst/>
              <a:ahLst/>
              <a:cxnLst/>
              <a:rect r="r" b="b" t="t" l="l"/>
              <a:pathLst>
                <a:path h="8419084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8419084"/>
                  </a:lnTo>
                  <a:lnTo>
                    <a:pt x="0" y="8419084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604057" y="2134143"/>
            <a:ext cx="7407993" cy="601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Build a classification model that analyzes network-traffic features and predicts whether a connection is Normal or an Attack.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Beneficiaries: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Organizations and security teams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Network administrators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Incident-response teams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9828333"/>
            <a:ext cx="16472068" cy="27451"/>
            <a:chOff x="0" y="0"/>
            <a:chExt cx="21962758" cy="366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11D3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6288979" y="9886664"/>
            <a:ext cx="915257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430901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 &amp; Data Understanding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861" y="1411948"/>
            <a:ext cx="15877384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 project structure; exact record/feature counts should be filled from the final dataset used.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5092" y="1845955"/>
            <a:ext cx="5504993" cy="2759640"/>
            <a:chOff x="0" y="0"/>
            <a:chExt cx="7339990" cy="3679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39964" cy="3679571"/>
            </a:xfrm>
            <a:custGeom>
              <a:avLst/>
              <a:gdLst/>
              <a:ahLst/>
              <a:cxnLst/>
              <a:rect r="r" b="b" t="t" l="l"/>
              <a:pathLst>
                <a:path h="3679571" w="7339964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726682" y="0"/>
                  </a:lnTo>
                  <a:cubicBezTo>
                    <a:pt x="7065390" y="0"/>
                    <a:pt x="7339964" y="274574"/>
                    <a:pt x="7339964" y="613283"/>
                  </a:cubicBezTo>
                  <a:lnTo>
                    <a:pt x="7339964" y="3066288"/>
                  </a:lnTo>
                  <a:cubicBezTo>
                    <a:pt x="7339964" y="3404997"/>
                    <a:pt x="7065390" y="3679571"/>
                    <a:pt x="6726682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1853108"/>
            <a:ext cx="82363" cy="2745343"/>
            <a:chOff x="0" y="0"/>
            <a:chExt cx="109817" cy="36604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55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0754" y="2006403"/>
            <a:ext cx="4868551" cy="243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Network Intrusion Detection Dataset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Examples: NSL-KDD, CICIDS2017, or custom network-traffic data.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50307" y="1845955"/>
            <a:ext cx="4955915" cy="2759640"/>
            <a:chOff x="0" y="0"/>
            <a:chExt cx="6607886" cy="3679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7937" cy="3679571"/>
            </a:xfrm>
            <a:custGeom>
              <a:avLst/>
              <a:gdLst/>
              <a:ahLst/>
              <a:cxnLst/>
              <a:rect r="r" b="b" t="t" l="l"/>
              <a:pathLst>
                <a:path h="3679571" w="6607937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5994654" y="0"/>
                  </a:lnTo>
                  <a:cubicBezTo>
                    <a:pt x="6333363" y="0"/>
                    <a:pt x="6607937" y="274574"/>
                    <a:pt x="6607937" y="613283"/>
                  </a:cubicBezTo>
                  <a:lnTo>
                    <a:pt x="6607937" y="3066288"/>
                  </a:lnTo>
                  <a:cubicBezTo>
                    <a:pt x="6607937" y="3404997"/>
                    <a:pt x="6333363" y="3679571"/>
                    <a:pt x="5994654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657461" y="1853108"/>
            <a:ext cx="82363" cy="2745343"/>
            <a:chOff x="0" y="0"/>
            <a:chExt cx="109817" cy="36604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855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995979" y="2006403"/>
            <a:ext cx="4319483" cy="243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Network Traffic Classification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🟢 Normal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🔴 Attack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866464" y="1845955"/>
            <a:ext cx="5436356" cy="2759640"/>
            <a:chOff x="0" y="0"/>
            <a:chExt cx="7248474" cy="3679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48525" cy="3679571"/>
            </a:xfrm>
            <a:custGeom>
              <a:avLst/>
              <a:gdLst/>
              <a:ahLst/>
              <a:cxnLst/>
              <a:rect r="r" b="b" t="t" l="l"/>
              <a:pathLst>
                <a:path h="3679571" w="7248525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635242" y="0"/>
                  </a:lnTo>
                  <a:cubicBezTo>
                    <a:pt x="6973951" y="0"/>
                    <a:pt x="7248525" y="274574"/>
                    <a:pt x="7248525" y="613283"/>
                  </a:cubicBezTo>
                  <a:lnTo>
                    <a:pt x="7248525" y="3066288"/>
                  </a:lnTo>
                  <a:cubicBezTo>
                    <a:pt x="7248525" y="3404997"/>
                    <a:pt x="6973951" y="3679571"/>
                    <a:pt x="6635242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873617" y="1853108"/>
            <a:ext cx="82363" cy="2745343"/>
            <a:chOff x="0" y="0"/>
            <a:chExt cx="109817" cy="36604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855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4CCD8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212136" y="2006403"/>
            <a:ext cx="4799924" cy="243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Type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Supervised Learning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Binary Classification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Model: Random Forest ⭐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577" y="5126565"/>
            <a:ext cx="7915885" cy="347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 Features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Source IP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Destination IP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Source Port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Destination Port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Protocol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Packet Count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Flow Duration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Bytes Sent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Bytes Received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Connection / Flow statistics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01562" y="5003102"/>
            <a:ext cx="7632630" cy="3720513"/>
            <a:chOff x="0" y="0"/>
            <a:chExt cx="10176840" cy="4960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76763" cy="4960620"/>
            </a:xfrm>
            <a:custGeom>
              <a:avLst/>
              <a:gdLst/>
              <a:ahLst/>
              <a:cxnLst/>
              <a:rect r="r" b="b" t="t" l="l"/>
              <a:pathLst>
                <a:path h="4960620" w="10176763">
                  <a:moveTo>
                    <a:pt x="0" y="826770"/>
                  </a:moveTo>
                  <a:cubicBezTo>
                    <a:pt x="0" y="370205"/>
                    <a:pt x="370205" y="0"/>
                    <a:pt x="826770" y="0"/>
                  </a:cubicBezTo>
                  <a:lnTo>
                    <a:pt x="9349994" y="0"/>
                  </a:lnTo>
                  <a:cubicBezTo>
                    <a:pt x="9806559" y="0"/>
                    <a:pt x="10176763" y="370205"/>
                    <a:pt x="10176763" y="826770"/>
                  </a:cubicBezTo>
                  <a:lnTo>
                    <a:pt x="10176763" y="4133850"/>
                  </a:lnTo>
                  <a:cubicBezTo>
                    <a:pt x="10176763" y="4590415"/>
                    <a:pt x="9806559" y="4960620"/>
                    <a:pt x="9349994" y="4960620"/>
                  </a:cubicBezTo>
                  <a:lnTo>
                    <a:pt x="826770" y="4960620"/>
                  </a:lnTo>
                  <a:cubicBezTo>
                    <a:pt x="370205" y="4960747"/>
                    <a:pt x="0" y="4590542"/>
                    <a:pt x="0" y="4133850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08706" y="5010255"/>
            <a:ext cx="82363" cy="3706216"/>
            <a:chOff x="0" y="0"/>
            <a:chExt cx="109817" cy="49416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855" cy="4941570"/>
            </a:xfrm>
            <a:custGeom>
              <a:avLst/>
              <a:gdLst/>
              <a:ahLst/>
              <a:cxnLst/>
              <a:rect r="r" b="b" t="t" l="l"/>
              <a:pathLst>
                <a:path h="4941570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4941570"/>
                  </a:lnTo>
                  <a:lnTo>
                    <a:pt x="0" y="4941570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947224" y="5173066"/>
            <a:ext cx="6996198" cy="3387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Sample Dataset View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Src IP      →  Dst IP      | Protocol | Packets | Duration | Bytes | Label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10.0.0.5    →  10.0.0.20   | TCP      | 120     | 2.4 s    | 18 KB | Normal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10.0.0.9    →  10.0.0.21   | TCP      | 980     | 0.8 s    | 92 KB | Attack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9828333"/>
            <a:ext cx="16472068" cy="27451"/>
            <a:chOff x="0" y="0"/>
            <a:chExt cx="21962758" cy="366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11D3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6288979" y="9886664"/>
            <a:ext cx="915257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430901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Preprocessing &amp; EDA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861" y="1411948"/>
            <a:ext cx="15877384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Prepare clean, encoded, informative features before model training.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47817" y="1845955"/>
            <a:ext cx="2512562" cy="1455601"/>
            <a:chOff x="0" y="0"/>
            <a:chExt cx="3350082" cy="19408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50133" cy="1940814"/>
            </a:xfrm>
            <a:custGeom>
              <a:avLst/>
              <a:gdLst/>
              <a:ahLst/>
              <a:cxnLst/>
              <a:rect r="r" b="b" t="t" l="l"/>
              <a:pathLst>
                <a:path h="1940814" w="3350133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026664" y="0"/>
                  </a:lnTo>
                  <a:cubicBezTo>
                    <a:pt x="3205353" y="0"/>
                    <a:pt x="3350133" y="144780"/>
                    <a:pt x="3350133" y="323469"/>
                  </a:cubicBezTo>
                  <a:lnTo>
                    <a:pt x="3350133" y="1617345"/>
                  </a:lnTo>
                  <a:cubicBezTo>
                    <a:pt x="3350133" y="1796034"/>
                    <a:pt x="3205353" y="1940814"/>
                    <a:pt x="3026664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54971" y="1853108"/>
            <a:ext cx="82363" cy="1441304"/>
            <a:chOff x="0" y="0"/>
            <a:chExt cx="109817" cy="19217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55" cy="1921764"/>
            </a:xfrm>
            <a:custGeom>
              <a:avLst/>
              <a:gdLst/>
              <a:ahLst/>
              <a:cxnLst/>
              <a:rect r="r" b="b" t="t" l="l"/>
              <a:pathLst>
                <a:path h="1921764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93489" y="2015928"/>
            <a:ext cx="1876130" cy="112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Missing Values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44675" y="2231346"/>
            <a:ext cx="160287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561798" y="1845955"/>
            <a:ext cx="2512562" cy="1455601"/>
            <a:chOff x="0" y="0"/>
            <a:chExt cx="3350082" cy="1940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50133" cy="1940814"/>
            </a:xfrm>
            <a:custGeom>
              <a:avLst/>
              <a:gdLst/>
              <a:ahLst/>
              <a:cxnLst/>
              <a:rect r="r" b="b" t="t" l="l"/>
              <a:pathLst>
                <a:path h="1940814" w="3350133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026664" y="0"/>
                  </a:lnTo>
                  <a:cubicBezTo>
                    <a:pt x="3205353" y="0"/>
                    <a:pt x="3350133" y="144780"/>
                    <a:pt x="3350133" y="323469"/>
                  </a:cubicBezTo>
                  <a:lnTo>
                    <a:pt x="3350133" y="1617345"/>
                  </a:lnTo>
                  <a:cubicBezTo>
                    <a:pt x="3350133" y="1796034"/>
                    <a:pt x="3205353" y="1940814"/>
                    <a:pt x="3026664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568951" y="1853108"/>
            <a:ext cx="82363" cy="1441304"/>
            <a:chOff x="0" y="0"/>
            <a:chExt cx="109817" cy="19217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855" cy="1921764"/>
            </a:xfrm>
            <a:custGeom>
              <a:avLst/>
              <a:gdLst/>
              <a:ahLst/>
              <a:cxnLst/>
              <a:rect r="r" b="b" t="t" l="l"/>
              <a:pathLst>
                <a:path h="1921764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907469" y="2015928"/>
            <a:ext cx="1876130" cy="112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Duplicates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58655" y="2231346"/>
            <a:ext cx="160287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375778" y="1845955"/>
            <a:ext cx="2512562" cy="1455601"/>
            <a:chOff x="0" y="0"/>
            <a:chExt cx="3350082" cy="19408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50133" cy="1940814"/>
            </a:xfrm>
            <a:custGeom>
              <a:avLst/>
              <a:gdLst/>
              <a:ahLst/>
              <a:cxnLst/>
              <a:rect r="r" b="b" t="t" l="l"/>
              <a:pathLst>
                <a:path h="1940814" w="3350133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026664" y="0"/>
                  </a:lnTo>
                  <a:cubicBezTo>
                    <a:pt x="3205353" y="0"/>
                    <a:pt x="3350133" y="144780"/>
                    <a:pt x="3350133" y="323469"/>
                  </a:cubicBezTo>
                  <a:lnTo>
                    <a:pt x="3350133" y="1617345"/>
                  </a:lnTo>
                  <a:cubicBezTo>
                    <a:pt x="3350133" y="1796034"/>
                    <a:pt x="3205353" y="1940814"/>
                    <a:pt x="3026664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382922" y="1853108"/>
            <a:ext cx="82363" cy="1441304"/>
            <a:chOff x="0" y="0"/>
            <a:chExt cx="109817" cy="19217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855" cy="1921764"/>
            </a:xfrm>
            <a:custGeom>
              <a:avLst/>
              <a:gdLst/>
              <a:ahLst/>
              <a:cxnLst/>
              <a:rect r="r" b="b" t="t" l="l"/>
              <a:pathLst>
                <a:path h="1921764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721450" y="2015928"/>
            <a:ext cx="1876130" cy="112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Outliers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72626" y="2231346"/>
            <a:ext cx="160287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89758" y="1845955"/>
            <a:ext cx="2512562" cy="1455601"/>
            <a:chOff x="0" y="0"/>
            <a:chExt cx="3350082" cy="19408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50133" cy="1940814"/>
            </a:xfrm>
            <a:custGeom>
              <a:avLst/>
              <a:gdLst/>
              <a:ahLst/>
              <a:cxnLst/>
              <a:rect r="r" b="b" t="t" l="l"/>
              <a:pathLst>
                <a:path h="1940814" w="3350133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026664" y="0"/>
                  </a:lnTo>
                  <a:cubicBezTo>
                    <a:pt x="3205353" y="0"/>
                    <a:pt x="3350133" y="144780"/>
                    <a:pt x="3350133" y="323469"/>
                  </a:cubicBezTo>
                  <a:lnTo>
                    <a:pt x="3350133" y="1617345"/>
                  </a:lnTo>
                  <a:cubicBezTo>
                    <a:pt x="3350133" y="1796034"/>
                    <a:pt x="3205353" y="1940814"/>
                    <a:pt x="3026664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196902" y="1853108"/>
            <a:ext cx="82363" cy="1441304"/>
            <a:chOff x="0" y="0"/>
            <a:chExt cx="109817" cy="19217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855" cy="1921764"/>
            </a:xfrm>
            <a:custGeom>
              <a:avLst/>
              <a:gdLst/>
              <a:ahLst/>
              <a:cxnLst/>
              <a:rect r="r" b="b" t="t" l="l"/>
              <a:pathLst>
                <a:path h="1921764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535420" y="2015928"/>
            <a:ext cx="1876130" cy="112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Encoding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86606" y="2231346"/>
            <a:ext cx="160287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03738" y="1845955"/>
            <a:ext cx="2512562" cy="1455601"/>
            <a:chOff x="0" y="0"/>
            <a:chExt cx="3350082" cy="19408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50133" cy="1940814"/>
            </a:xfrm>
            <a:custGeom>
              <a:avLst/>
              <a:gdLst/>
              <a:ahLst/>
              <a:cxnLst/>
              <a:rect r="r" b="b" t="t" l="l"/>
              <a:pathLst>
                <a:path h="1940814" w="3350133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026664" y="0"/>
                  </a:lnTo>
                  <a:cubicBezTo>
                    <a:pt x="3205353" y="0"/>
                    <a:pt x="3350133" y="144780"/>
                    <a:pt x="3350133" y="323469"/>
                  </a:cubicBezTo>
                  <a:lnTo>
                    <a:pt x="3350133" y="1617345"/>
                  </a:lnTo>
                  <a:cubicBezTo>
                    <a:pt x="3350133" y="1796034"/>
                    <a:pt x="3205353" y="1940814"/>
                    <a:pt x="3026664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010882" y="1853108"/>
            <a:ext cx="82363" cy="1441304"/>
            <a:chOff x="0" y="0"/>
            <a:chExt cx="109817" cy="192173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855" cy="1921764"/>
            </a:xfrm>
            <a:custGeom>
              <a:avLst/>
              <a:gdLst/>
              <a:ahLst/>
              <a:cxnLst/>
              <a:rect r="r" b="b" t="t" l="l"/>
              <a:pathLst>
                <a:path h="1921764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349401" y="2015928"/>
            <a:ext cx="1876130" cy="112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Scaling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00587" y="2231346"/>
            <a:ext cx="160287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817709" y="1845955"/>
            <a:ext cx="2512562" cy="1455601"/>
            <a:chOff x="0" y="0"/>
            <a:chExt cx="3350082" cy="194080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50133" cy="1940814"/>
            </a:xfrm>
            <a:custGeom>
              <a:avLst/>
              <a:gdLst/>
              <a:ahLst/>
              <a:cxnLst/>
              <a:rect r="r" b="b" t="t" l="l"/>
              <a:pathLst>
                <a:path h="1940814" w="3350133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026664" y="0"/>
                  </a:lnTo>
                  <a:cubicBezTo>
                    <a:pt x="3205353" y="0"/>
                    <a:pt x="3350133" y="144780"/>
                    <a:pt x="3350133" y="323469"/>
                  </a:cubicBezTo>
                  <a:lnTo>
                    <a:pt x="3350133" y="1617345"/>
                  </a:lnTo>
                  <a:cubicBezTo>
                    <a:pt x="3350133" y="1796034"/>
                    <a:pt x="3205353" y="1940814"/>
                    <a:pt x="3026664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824862" y="1853108"/>
            <a:ext cx="82363" cy="1441304"/>
            <a:chOff x="0" y="0"/>
            <a:chExt cx="109817" cy="19217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855" cy="1921764"/>
            </a:xfrm>
            <a:custGeom>
              <a:avLst/>
              <a:gdLst/>
              <a:ahLst/>
              <a:cxnLst/>
              <a:rect r="r" b="b" t="t" l="l"/>
              <a:pathLst>
                <a:path h="1921764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5163381" y="2015928"/>
            <a:ext cx="1876130" cy="1122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Selection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85092" y="3973601"/>
            <a:ext cx="5093189" cy="3651885"/>
            <a:chOff x="0" y="0"/>
            <a:chExt cx="6790919" cy="48691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90944" cy="4869180"/>
            </a:xfrm>
            <a:custGeom>
              <a:avLst/>
              <a:gdLst/>
              <a:ahLst/>
              <a:cxnLst/>
              <a:rect r="r" b="b" t="t" l="l"/>
              <a:pathLst>
                <a:path h="4869180" w="6790944">
                  <a:moveTo>
                    <a:pt x="0" y="811530"/>
                  </a:moveTo>
                  <a:cubicBezTo>
                    <a:pt x="0" y="363347"/>
                    <a:pt x="363347" y="0"/>
                    <a:pt x="811530" y="0"/>
                  </a:cubicBezTo>
                  <a:lnTo>
                    <a:pt x="5979414" y="0"/>
                  </a:lnTo>
                  <a:cubicBezTo>
                    <a:pt x="6427597" y="0"/>
                    <a:pt x="6790944" y="363347"/>
                    <a:pt x="6790944" y="811530"/>
                  </a:cubicBezTo>
                  <a:lnTo>
                    <a:pt x="6790944" y="4057650"/>
                  </a:lnTo>
                  <a:cubicBezTo>
                    <a:pt x="6790944" y="4505833"/>
                    <a:pt x="6427597" y="4869180"/>
                    <a:pt x="5979414" y="4869180"/>
                  </a:cubicBezTo>
                  <a:lnTo>
                    <a:pt x="811530" y="4869180"/>
                  </a:lnTo>
                  <a:cubicBezTo>
                    <a:pt x="363347" y="4869180"/>
                    <a:pt x="0" y="4505833"/>
                    <a:pt x="0" y="4057650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92235" y="3980755"/>
            <a:ext cx="82363" cy="3637578"/>
            <a:chOff x="0" y="0"/>
            <a:chExt cx="109817" cy="485010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855" cy="4850130"/>
            </a:xfrm>
            <a:custGeom>
              <a:avLst/>
              <a:gdLst/>
              <a:ahLst/>
              <a:cxnLst/>
              <a:rect r="r" b="b" t="t" l="l"/>
              <a:pathLst>
                <a:path h="4850130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4850130"/>
                  </a:lnTo>
                  <a:lnTo>
                    <a:pt x="0" y="4850130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30754" y="4143565"/>
            <a:ext cx="4456757" cy="331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EDA Graph 1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Attack vs Normal traffic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Shows class distribution and possible imbalance.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581680" y="3973601"/>
            <a:ext cx="5093189" cy="3651885"/>
            <a:chOff x="0" y="0"/>
            <a:chExt cx="6790919" cy="48691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90944" cy="4869180"/>
            </a:xfrm>
            <a:custGeom>
              <a:avLst/>
              <a:gdLst/>
              <a:ahLst/>
              <a:cxnLst/>
              <a:rect r="r" b="b" t="t" l="l"/>
              <a:pathLst>
                <a:path h="4869180" w="6790944">
                  <a:moveTo>
                    <a:pt x="0" y="811530"/>
                  </a:moveTo>
                  <a:cubicBezTo>
                    <a:pt x="0" y="363347"/>
                    <a:pt x="363347" y="0"/>
                    <a:pt x="811530" y="0"/>
                  </a:cubicBezTo>
                  <a:lnTo>
                    <a:pt x="5979414" y="0"/>
                  </a:lnTo>
                  <a:cubicBezTo>
                    <a:pt x="6427597" y="0"/>
                    <a:pt x="6790944" y="363347"/>
                    <a:pt x="6790944" y="811530"/>
                  </a:cubicBezTo>
                  <a:lnTo>
                    <a:pt x="6790944" y="4057650"/>
                  </a:lnTo>
                  <a:cubicBezTo>
                    <a:pt x="6790944" y="4505833"/>
                    <a:pt x="6427597" y="4869180"/>
                    <a:pt x="5979414" y="4869180"/>
                  </a:cubicBezTo>
                  <a:lnTo>
                    <a:pt x="811530" y="4869180"/>
                  </a:lnTo>
                  <a:cubicBezTo>
                    <a:pt x="363347" y="4869180"/>
                    <a:pt x="0" y="4505833"/>
                    <a:pt x="0" y="4057650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588824" y="3980755"/>
            <a:ext cx="82363" cy="3637578"/>
            <a:chOff x="0" y="0"/>
            <a:chExt cx="109817" cy="485010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855" cy="4850130"/>
            </a:xfrm>
            <a:custGeom>
              <a:avLst/>
              <a:gdLst/>
              <a:ahLst/>
              <a:cxnLst/>
              <a:rect r="r" b="b" t="t" l="l"/>
              <a:pathLst>
                <a:path h="4850130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4850130"/>
                  </a:lnTo>
                  <a:lnTo>
                    <a:pt x="0" y="4850130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6927352" y="4143565"/>
            <a:ext cx="4456757" cy="331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EDA Graph 2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Protocol distribution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Highlights which protocols dominate network traffic.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278268" y="3973601"/>
            <a:ext cx="5093189" cy="3651885"/>
            <a:chOff x="0" y="0"/>
            <a:chExt cx="6790919" cy="48691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90944" cy="4869180"/>
            </a:xfrm>
            <a:custGeom>
              <a:avLst/>
              <a:gdLst/>
              <a:ahLst/>
              <a:cxnLst/>
              <a:rect r="r" b="b" t="t" l="l"/>
              <a:pathLst>
                <a:path h="4869180" w="6790944">
                  <a:moveTo>
                    <a:pt x="0" y="811530"/>
                  </a:moveTo>
                  <a:cubicBezTo>
                    <a:pt x="0" y="363347"/>
                    <a:pt x="363347" y="0"/>
                    <a:pt x="811530" y="0"/>
                  </a:cubicBezTo>
                  <a:lnTo>
                    <a:pt x="5979414" y="0"/>
                  </a:lnTo>
                  <a:cubicBezTo>
                    <a:pt x="6427597" y="0"/>
                    <a:pt x="6790944" y="363347"/>
                    <a:pt x="6790944" y="811530"/>
                  </a:cubicBezTo>
                  <a:lnTo>
                    <a:pt x="6790944" y="4057650"/>
                  </a:lnTo>
                  <a:cubicBezTo>
                    <a:pt x="6790944" y="4505833"/>
                    <a:pt x="6427597" y="4869180"/>
                    <a:pt x="5979414" y="4869180"/>
                  </a:cubicBezTo>
                  <a:lnTo>
                    <a:pt x="811530" y="4869180"/>
                  </a:lnTo>
                  <a:cubicBezTo>
                    <a:pt x="363347" y="4869180"/>
                    <a:pt x="0" y="4505833"/>
                    <a:pt x="0" y="4057650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285421" y="3980755"/>
            <a:ext cx="82363" cy="3637578"/>
            <a:chOff x="0" y="0"/>
            <a:chExt cx="109817" cy="485010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855" cy="4850130"/>
            </a:xfrm>
            <a:custGeom>
              <a:avLst/>
              <a:gdLst/>
              <a:ahLst/>
              <a:cxnLst/>
              <a:rect r="r" b="b" t="t" l="l"/>
              <a:pathLst>
                <a:path h="4850130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4850130"/>
                  </a:lnTo>
                  <a:lnTo>
                    <a:pt x="0" y="4850130"/>
                  </a:lnTo>
                  <a:close/>
                </a:path>
              </a:pathLst>
            </a:custGeom>
            <a:solidFill>
              <a:srgbClr val="4CCD82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2623940" y="4143565"/>
            <a:ext cx="4456757" cy="331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EDA Graph 3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Traffic statistics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duration, packets and bytes across classes.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885092" y="8022984"/>
            <a:ext cx="16486365" cy="1043807"/>
            <a:chOff x="0" y="0"/>
            <a:chExt cx="21981820" cy="139174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81795" cy="1391666"/>
            </a:xfrm>
            <a:custGeom>
              <a:avLst/>
              <a:gdLst/>
              <a:ahLst/>
              <a:cxnLst/>
              <a:rect r="r" b="b" t="t" l="l"/>
              <a:pathLst>
                <a:path h="1391666" w="21981795">
                  <a:moveTo>
                    <a:pt x="0" y="231902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21749893" y="0"/>
                  </a:lnTo>
                  <a:cubicBezTo>
                    <a:pt x="21878035" y="0"/>
                    <a:pt x="21981795" y="103886"/>
                    <a:pt x="21981795" y="231902"/>
                  </a:cubicBezTo>
                  <a:lnTo>
                    <a:pt x="21981795" y="1159764"/>
                  </a:lnTo>
                  <a:cubicBezTo>
                    <a:pt x="21981795" y="1287907"/>
                    <a:pt x="21877908" y="1391666"/>
                    <a:pt x="21749893" y="1391666"/>
                  </a:cubicBezTo>
                  <a:lnTo>
                    <a:pt x="231902" y="1391666"/>
                  </a:lnTo>
                  <a:cubicBezTo>
                    <a:pt x="103886" y="1391793"/>
                    <a:pt x="0" y="1287907"/>
                    <a:pt x="0" y="1159764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92235" y="8030137"/>
            <a:ext cx="82363" cy="1029500"/>
            <a:chOff x="0" y="0"/>
            <a:chExt cx="109817" cy="137266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855" cy="1372616"/>
            </a:xfrm>
            <a:custGeom>
              <a:avLst/>
              <a:gdLst/>
              <a:ahLst/>
              <a:cxnLst/>
              <a:rect r="r" b="b" t="t" l="l"/>
              <a:pathLst>
                <a:path h="1372616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230754" y="8192948"/>
            <a:ext cx="15849933" cy="711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Insights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Cleaning reduces noise; encoding converts categorical values; engineered flow features can improve attack detection.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892235" y="9828333"/>
            <a:ext cx="16472068" cy="27451"/>
            <a:chOff x="0" y="0"/>
            <a:chExt cx="21962758" cy="3660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11D30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6288979" y="9886664"/>
            <a:ext cx="915257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430901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ML Models &amp;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861" y="1411948"/>
            <a:ext cx="15877384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Supervised classification workflow for network traffic.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9190" y="1845955"/>
            <a:ext cx="2375297" cy="1592875"/>
            <a:chOff x="0" y="0"/>
            <a:chExt cx="3167062" cy="21238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66999" cy="2123821"/>
            </a:xfrm>
            <a:custGeom>
              <a:avLst/>
              <a:gdLst/>
              <a:ahLst/>
              <a:cxnLst/>
              <a:rect r="r" b="b" t="t" l="l"/>
              <a:pathLst>
                <a:path h="2123821" w="3166999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2813050" y="0"/>
                  </a:lnTo>
                  <a:cubicBezTo>
                    <a:pt x="3008503" y="0"/>
                    <a:pt x="3166999" y="158496"/>
                    <a:pt x="3166999" y="353949"/>
                  </a:cubicBezTo>
                  <a:lnTo>
                    <a:pt x="3166999" y="1769872"/>
                  </a:lnTo>
                  <a:cubicBezTo>
                    <a:pt x="3166999" y="1965325"/>
                    <a:pt x="3008503" y="2123821"/>
                    <a:pt x="2813050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86333" y="1853108"/>
            <a:ext cx="82363" cy="1578569"/>
            <a:chOff x="0" y="0"/>
            <a:chExt cx="109817" cy="2104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55" cy="2104771"/>
            </a:xfrm>
            <a:custGeom>
              <a:avLst/>
              <a:gdLst/>
              <a:ahLst/>
              <a:cxnLst/>
              <a:rect r="r" b="b" t="t" l="l"/>
              <a:pathLst>
                <a:path h="210477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4861" y="2015928"/>
            <a:ext cx="1738865" cy="126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38773" y="2294658"/>
            <a:ext cx="22892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561798" y="1845955"/>
            <a:ext cx="2375297" cy="1592875"/>
            <a:chOff x="0" y="0"/>
            <a:chExt cx="3167062" cy="21238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6999" cy="2123821"/>
            </a:xfrm>
            <a:custGeom>
              <a:avLst/>
              <a:gdLst/>
              <a:ahLst/>
              <a:cxnLst/>
              <a:rect r="r" b="b" t="t" l="l"/>
              <a:pathLst>
                <a:path h="2123821" w="3166999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2813050" y="0"/>
                  </a:lnTo>
                  <a:cubicBezTo>
                    <a:pt x="3008503" y="0"/>
                    <a:pt x="3166999" y="158496"/>
                    <a:pt x="3166999" y="353949"/>
                  </a:cubicBezTo>
                  <a:lnTo>
                    <a:pt x="3166999" y="1769872"/>
                  </a:lnTo>
                  <a:cubicBezTo>
                    <a:pt x="3166999" y="1965325"/>
                    <a:pt x="3008503" y="2123821"/>
                    <a:pt x="2813050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568951" y="1853108"/>
            <a:ext cx="82363" cy="1578569"/>
            <a:chOff x="0" y="0"/>
            <a:chExt cx="109817" cy="21047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855" cy="2104771"/>
            </a:xfrm>
            <a:custGeom>
              <a:avLst/>
              <a:gdLst/>
              <a:ahLst/>
              <a:cxnLst/>
              <a:rect r="r" b="b" t="t" l="l"/>
              <a:pathLst>
                <a:path h="210477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907469" y="2015928"/>
            <a:ext cx="1738865" cy="126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Train-Test</a:t>
            </a:r>
          </a:p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Split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21381" y="2294658"/>
            <a:ext cx="22892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44415" y="1845955"/>
            <a:ext cx="2375297" cy="1592875"/>
            <a:chOff x="0" y="0"/>
            <a:chExt cx="3167062" cy="21238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66999" cy="2123821"/>
            </a:xfrm>
            <a:custGeom>
              <a:avLst/>
              <a:gdLst/>
              <a:ahLst/>
              <a:cxnLst/>
              <a:rect r="r" b="b" t="t" l="l"/>
              <a:pathLst>
                <a:path h="2123821" w="3166999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2813050" y="0"/>
                  </a:lnTo>
                  <a:cubicBezTo>
                    <a:pt x="3008503" y="0"/>
                    <a:pt x="3166999" y="158496"/>
                    <a:pt x="3166999" y="353949"/>
                  </a:cubicBezTo>
                  <a:lnTo>
                    <a:pt x="3166999" y="1769872"/>
                  </a:lnTo>
                  <a:cubicBezTo>
                    <a:pt x="3166999" y="1965325"/>
                    <a:pt x="3008503" y="2123821"/>
                    <a:pt x="2813050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51559" y="1853108"/>
            <a:ext cx="82363" cy="1578569"/>
            <a:chOff x="0" y="0"/>
            <a:chExt cx="109817" cy="21047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855" cy="2104771"/>
            </a:xfrm>
            <a:custGeom>
              <a:avLst/>
              <a:gdLst/>
              <a:ahLst/>
              <a:cxnLst/>
              <a:rect r="r" b="b" t="t" l="l"/>
              <a:pathLst>
                <a:path h="210477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790077" y="2015928"/>
            <a:ext cx="1738865" cy="126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</a:t>
            </a:r>
          </a:p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Selection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03999" y="2294658"/>
            <a:ext cx="22892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27023" y="1845955"/>
            <a:ext cx="2375297" cy="1592875"/>
            <a:chOff x="0" y="0"/>
            <a:chExt cx="3167062" cy="21238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66999" cy="2123821"/>
            </a:xfrm>
            <a:custGeom>
              <a:avLst/>
              <a:gdLst/>
              <a:ahLst/>
              <a:cxnLst/>
              <a:rect r="r" b="b" t="t" l="l"/>
              <a:pathLst>
                <a:path h="2123821" w="3166999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2813050" y="0"/>
                  </a:lnTo>
                  <a:cubicBezTo>
                    <a:pt x="3008503" y="0"/>
                    <a:pt x="3166999" y="158496"/>
                    <a:pt x="3166999" y="353949"/>
                  </a:cubicBezTo>
                  <a:lnTo>
                    <a:pt x="3166999" y="1769872"/>
                  </a:lnTo>
                  <a:cubicBezTo>
                    <a:pt x="3166999" y="1965325"/>
                    <a:pt x="3008503" y="2123821"/>
                    <a:pt x="2813050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334176" y="1853108"/>
            <a:ext cx="82363" cy="1578569"/>
            <a:chOff x="0" y="0"/>
            <a:chExt cx="109817" cy="21047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855" cy="2104771"/>
            </a:xfrm>
            <a:custGeom>
              <a:avLst/>
              <a:gdLst/>
              <a:ahLst/>
              <a:cxnLst/>
              <a:rect r="r" b="b" t="t" l="l"/>
              <a:pathLst>
                <a:path h="210477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672695" y="2015928"/>
            <a:ext cx="1738865" cy="126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</a:t>
            </a:r>
          </a:p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Training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86606" y="2294658"/>
            <a:ext cx="22892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209631" y="1845955"/>
            <a:ext cx="2375297" cy="1592875"/>
            <a:chOff x="0" y="0"/>
            <a:chExt cx="3167062" cy="21238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66999" cy="2123821"/>
            </a:xfrm>
            <a:custGeom>
              <a:avLst/>
              <a:gdLst/>
              <a:ahLst/>
              <a:cxnLst/>
              <a:rect r="r" b="b" t="t" l="l"/>
              <a:pathLst>
                <a:path h="2123821" w="3166999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2813050" y="0"/>
                  </a:lnTo>
                  <a:cubicBezTo>
                    <a:pt x="3008503" y="0"/>
                    <a:pt x="3166999" y="158496"/>
                    <a:pt x="3166999" y="353949"/>
                  </a:cubicBezTo>
                  <a:lnTo>
                    <a:pt x="3166999" y="1769872"/>
                  </a:lnTo>
                  <a:cubicBezTo>
                    <a:pt x="3166999" y="1965325"/>
                    <a:pt x="3008503" y="2123821"/>
                    <a:pt x="2813050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216784" y="1853108"/>
            <a:ext cx="82363" cy="1578569"/>
            <a:chOff x="0" y="0"/>
            <a:chExt cx="109817" cy="21047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855" cy="2104771"/>
            </a:xfrm>
            <a:custGeom>
              <a:avLst/>
              <a:gdLst/>
              <a:ahLst/>
              <a:cxnLst/>
              <a:rect r="r" b="b" t="t" l="l"/>
              <a:pathLst>
                <a:path h="210477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555303" y="2015928"/>
            <a:ext cx="1738865" cy="126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69224" y="2294658"/>
            <a:ext cx="22892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092248" y="1845955"/>
            <a:ext cx="2375297" cy="1592875"/>
            <a:chOff x="0" y="0"/>
            <a:chExt cx="3167062" cy="21238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66999" cy="2123821"/>
            </a:xfrm>
            <a:custGeom>
              <a:avLst/>
              <a:gdLst/>
              <a:ahLst/>
              <a:cxnLst/>
              <a:rect r="r" b="b" t="t" l="l"/>
              <a:pathLst>
                <a:path h="2123821" w="3166999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2813050" y="0"/>
                  </a:lnTo>
                  <a:cubicBezTo>
                    <a:pt x="3008503" y="0"/>
                    <a:pt x="3166999" y="158496"/>
                    <a:pt x="3166999" y="353949"/>
                  </a:cubicBezTo>
                  <a:lnTo>
                    <a:pt x="3166999" y="1769872"/>
                  </a:lnTo>
                  <a:cubicBezTo>
                    <a:pt x="3166999" y="1965325"/>
                    <a:pt x="3008503" y="2123821"/>
                    <a:pt x="2813050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5099392" y="1853108"/>
            <a:ext cx="82363" cy="1578569"/>
            <a:chOff x="0" y="0"/>
            <a:chExt cx="109817" cy="21047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855" cy="2104771"/>
            </a:xfrm>
            <a:custGeom>
              <a:avLst/>
              <a:gdLst/>
              <a:ahLst/>
              <a:cxnLst/>
              <a:rect r="r" b="b" t="t" l="l"/>
              <a:pathLst>
                <a:path h="210477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5437920" y="2015928"/>
            <a:ext cx="1738865" cy="126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Evaluation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85092" y="4179503"/>
            <a:ext cx="5093189" cy="1730140"/>
            <a:chOff x="0" y="0"/>
            <a:chExt cx="6790919" cy="230685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90817" cy="2306828"/>
            </a:xfrm>
            <a:custGeom>
              <a:avLst/>
              <a:gdLst/>
              <a:ahLst/>
              <a:cxnLst/>
              <a:rect r="r" b="b" t="t" l="l"/>
              <a:pathLst>
                <a:path h="2306828" w="679081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6406388" y="0"/>
                  </a:lnTo>
                  <a:cubicBezTo>
                    <a:pt x="6618732" y="0"/>
                    <a:pt x="6790817" y="172085"/>
                    <a:pt x="6790817" y="384429"/>
                  </a:cubicBezTo>
                  <a:lnTo>
                    <a:pt x="6790817" y="1922399"/>
                  </a:lnTo>
                  <a:cubicBezTo>
                    <a:pt x="6790817" y="2134743"/>
                    <a:pt x="6618732" y="2306828"/>
                    <a:pt x="6406388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92235" y="4186647"/>
            <a:ext cx="82363" cy="1715843"/>
            <a:chOff x="0" y="0"/>
            <a:chExt cx="109817" cy="22877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855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30754" y="4358992"/>
            <a:ext cx="4456757" cy="138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Logistic Regression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Simple linear baseline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444415" y="4179503"/>
            <a:ext cx="5093189" cy="1730140"/>
            <a:chOff x="0" y="0"/>
            <a:chExt cx="6790919" cy="230685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90817" cy="2306828"/>
            </a:xfrm>
            <a:custGeom>
              <a:avLst/>
              <a:gdLst/>
              <a:ahLst/>
              <a:cxnLst/>
              <a:rect r="r" b="b" t="t" l="l"/>
              <a:pathLst>
                <a:path h="2306828" w="679081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6406388" y="0"/>
                  </a:lnTo>
                  <a:cubicBezTo>
                    <a:pt x="6618732" y="0"/>
                    <a:pt x="6790817" y="172085"/>
                    <a:pt x="6790817" y="384429"/>
                  </a:cubicBezTo>
                  <a:lnTo>
                    <a:pt x="6790817" y="1922399"/>
                  </a:lnTo>
                  <a:cubicBezTo>
                    <a:pt x="6790817" y="2134743"/>
                    <a:pt x="6618732" y="2306828"/>
                    <a:pt x="6406388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451559" y="4186647"/>
            <a:ext cx="82363" cy="1715843"/>
            <a:chOff x="0" y="0"/>
            <a:chExt cx="109817" cy="22877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855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6790077" y="4358992"/>
            <a:ext cx="4456757" cy="138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Decision Tree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Interpretable rules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003738" y="4179503"/>
            <a:ext cx="5093189" cy="1730140"/>
            <a:chOff x="0" y="0"/>
            <a:chExt cx="6790919" cy="230685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90817" cy="2306828"/>
            </a:xfrm>
            <a:custGeom>
              <a:avLst/>
              <a:gdLst/>
              <a:ahLst/>
              <a:cxnLst/>
              <a:rect r="r" b="b" t="t" l="l"/>
              <a:pathLst>
                <a:path h="2306828" w="679081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6406388" y="0"/>
                  </a:lnTo>
                  <a:cubicBezTo>
                    <a:pt x="6618732" y="0"/>
                    <a:pt x="6790817" y="172085"/>
                    <a:pt x="6790817" y="384429"/>
                  </a:cubicBezTo>
                  <a:lnTo>
                    <a:pt x="6790817" y="1922399"/>
                  </a:lnTo>
                  <a:cubicBezTo>
                    <a:pt x="6790817" y="2134743"/>
                    <a:pt x="6618732" y="2306828"/>
                    <a:pt x="6406388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010882" y="4186647"/>
            <a:ext cx="82363" cy="1715843"/>
            <a:chOff x="0" y="0"/>
            <a:chExt cx="109817" cy="228779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855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4CCD82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2349401" y="4358992"/>
            <a:ext cx="4456757" cy="138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Forest ⭐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Robust ensemble; handles non-linear patterns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885092" y="6307141"/>
            <a:ext cx="5093189" cy="1730140"/>
            <a:chOff x="0" y="0"/>
            <a:chExt cx="6790919" cy="230685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790817" cy="2306828"/>
            </a:xfrm>
            <a:custGeom>
              <a:avLst/>
              <a:gdLst/>
              <a:ahLst/>
              <a:cxnLst/>
              <a:rect r="r" b="b" t="t" l="l"/>
              <a:pathLst>
                <a:path h="2306828" w="679081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6406388" y="0"/>
                  </a:lnTo>
                  <a:cubicBezTo>
                    <a:pt x="6618732" y="0"/>
                    <a:pt x="6790817" y="172085"/>
                    <a:pt x="6790817" y="384429"/>
                  </a:cubicBezTo>
                  <a:lnTo>
                    <a:pt x="6790817" y="1922399"/>
                  </a:lnTo>
                  <a:cubicBezTo>
                    <a:pt x="6790817" y="2134743"/>
                    <a:pt x="6618732" y="2306828"/>
                    <a:pt x="6406388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92235" y="6314294"/>
            <a:ext cx="82363" cy="1715843"/>
            <a:chOff x="0" y="0"/>
            <a:chExt cx="109817" cy="22877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855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230754" y="6486630"/>
            <a:ext cx="4456757" cy="138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XGBoost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Powerful boosting model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444415" y="6307141"/>
            <a:ext cx="5093189" cy="1730140"/>
            <a:chOff x="0" y="0"/>
            <a:chExt cx="6790919" cy="230685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790817" cy="2306828"/>
            </a:xfrm>
            <a:custGeom>
              <a:avLst/>
              <a:gdLst/>
              <a:ahLst/>
              <a:cxnLst/>
              <a:rect r="r" b="b" t="t" l="l"/>
              <a:pathLst>
                <a:path h="2306828" w="679081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6406388" y="0"/>
                  </a:lnTo>
                  <a:cubicBezTo>
                    <a:pt x="6618732" y="0"/>
                    <a:pt x="6790817" y="172085"/>
                    <a:pt x="6790817" y="384429"/>
                  </a:cubicBezTo>
                  <a:lnTo>
                    <a:pt x="6790817" y="1922399"/>
                  </a:lnTo>
                  <a:cubicBezTo>
                    <a:pt x="6790817" y="2134743"/>
                    <a:pt x="6618732" y="2306828"/>
                    <a:pt x="6406388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6451559" y="6314294"/>
            <a:ext cx="82363" cy="1715843"/>
            <a:chOff x="0" y="0"/>
            <a:chExt cx="109817" cy="228779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855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6790077" y="6486630"/>
            <a:ext cx="4456757" cy="138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Neural Network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Learns complex feature interactions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92235" y="9828333"/>
            <a:ext cx="16472068" cy="27451"/>
            <a:chOff x="0" y="0"/>
            <a:chExt cx="21962758" cy="3660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11D30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6288979" y="9886664"/>
            <a:ext cx="915257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430901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Evaluation &amp; Comparison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861" y="1411948"/>
            <a:ext cx="15877384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Illustrative comparison — replace these values with your actual test-set results.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5092" y="1845955"/>
            <a:ext cx="5504993" cy="769268"/>
            <a:chOff x="0" y="0"/>
            <a:chExt cx="7339990" cy="10256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39965" cy="1025652"/>
            </a:xfrm>
            <a:custGeom>
              <a:avLst/>
              <a:gdLst/>
              <a:ahLst/>
              <a:cxnLst/>
              <a:rect r="r" b="b" t="t" l="l"/>
              <a:pathLst>
                <a:path h="1025652" w="7339965">
                  <a:moveTo>
                    <a:pt x="0" y="0"/>
                  </a:moveTo>
                  <a:lnTo>
                    <a:pt x="7339965" y="0"/>
                  </a:lnTo>
                  <a:lnTo>
                    <a:pt x="7339965" y="1025652"/>
                  </a:lnTo>
                  <a:lnTo>
                    <a:pt x="0" y="1025652"/>
                  </a:lnTo>
                  <a:close/>
                </a:path>
              </a:pathLst>
            </a:custGeom>
            <a:solidFill>
              <a:srgbClr val="30BEB4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93489" y="2025453"/>
            <a:ext cx="5101904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80F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375778" y="1845955"/>
            <a:ext cx="2141944" cy="769268"/>
            <a:chOff x="0" y="0"/>
            <a:chExt cx="2855925" cy="1025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5976" cy="1025652"/>
            </a:xfrm>
            <a:custGeom>
              <a:avLst/>
              <a:gdLst/>
              <a:ahLst/>
              <a:cxnLst/>
              <a:rect r="r" b="b" t="t" l="l"/>
              <a:pathLst>
                <a:path h="1025652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1025652"/>
                  </a:lnTo>
                  <a:lnTo>
                    <a:pt x="0" y="1025652"/>
                  </a:lnTo>
                  <a:close/>
                </a:path>
              </a:pathLst>
            </a:custGeom>
            <a:solidFill>
              <a:srgbClr val="30BEB4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6584185" y="2025453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80F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Accuracy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03415" y="1845955"/>
            <a:ext cx="2141944" cy="769268"/>
            <a:chOff x="0" y="0"/>
            <a:chExt cx="2855925" cy="1025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55976" cy="1025652"/>
            </a:xfrm>
            <a:custGeom>
              <a:avLst/>
              <a:gdLst/>
              <a:ahLst/>
              <a:cxnLst/>
              <a:rect r="r" b="b" t="t" l="l"/>
              <a:pathLst>
                <a:path h="1025652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1025652"/>
                  </a:lnTo>
                  <a:lnTo>
                    <a:pt x="0" y="1025652"/>
                  </a:lnTo>
                  <a:close/>
                </a:path>
              </a:pathLst>
            </a:custGeom>
            <a:solidFill>
              <a:srgbClr val="30BEB4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711822" y="2025453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80F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Precision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631062" y="1845955"/>
            <a:ext cx="2141944" cy="769268"/>
            <a:chOff x="0" y="0"/>
            <a:chExt cx="2855925" cy="10256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55976" cy="1025652"/>
            </a:xfrm>
            <a:custGeom>
              <a:avLst/>
              <a:gdLst/>
              <a:ahLst/>
              <a:cxnLst/>
              <a:rect r="r" b="b" t="t" l="l"/>
              <a:pathLst>
                <a:path h="1025652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1025652"/>
                  </a:lnTo>
                  <a:lnTo>
                    <a:pt x="0" y="1025652"/>
                  </a:lnTo>
                  <a:close/>
                </a:path>
              </a:pathLst>
            </a:custGeom>
            <a:solidFill>
              <a:srgbClr val="30BEB4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839469" y="2025453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80F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Recall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758699" y="1845955"/>
            <a:ext cx="2141944" cy="769268"/>
            <a:chOff x="0" y="0"/>
            <a:chExt cx="2855925" cy="10256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55976" cy="1025652"/>
            </a:xfrm>
            <a:custGeom>
              <a:avLst/>
              <a:gdLst/>
              <a:ahLst/>
              <a:cxnLst/>
              <a:rect r="r" b="b" t="t" l="l"/>
              <a:pathLst>
                <a:path h="1025652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1025652"/>
                  </a:lnTo>
                  <a:lnTo>
                    <a:pt x="0" y="1025652"/>
                  </a:lnTo>
                  <a:close/>
                </a:path>
              </a:pathLst>
            </a:custGeom>
            <a:solidFill>
              <a:srgbClr val="30BEB4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967106" y="2025453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80F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5092" y="2600925"/>
            <a:ext cx="5504993" cy="728091"/>
            <a:chOff x="0" y="0"/>
            <a:chExt cx="7339990" cy="9707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39965" cy="970788"/>
            </a:xfrm>
            <a:custGeom>
              <a:avLst/>
              <a:gdLst/>
              <a:ahLst/>
              <a:cxnLst/>
              <a:rect r="r" b="b" t="t" l="l"/>
              <a:pathLst>
                <a:path h="970788" w="7339965">
                  <a:moveTo>
                    <a:pt x="0" y="0"/>
                  </a:moveTo>
                  <a:lnTo>
                    <a:pt x="7339965" y="0"/>
                  </a:lnTo>
                  <a:lnTo>
                    <a:pt x="7339965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93489" y="2766689"/>
            <a:ext cx="5101904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Regression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375778" y="2600925"/>
            <a:ext cx="2141944" cy="728091"/>
            <a:chOff x="0" y="0"/>
            <a:chExt cx="2855925" cy="9707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6584185" y="2766689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84%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503415" y="2600925"/>
            <a:ext cx="2141944" cy="728091"/>
            <a:chOff x="0" y="0"/>
            <a:chExt cx="2855925" cy="9707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8711822" y="2766689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82%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631062" y="2600925"/>
            <a:ext cx="2141944" cy="728091"/>
            <a:chOff x="0" y="0"/>
            <a:chExt cx="2855925" cy="9707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0839469" y="2766689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85%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758699" y="2600925"/>
            <a:ext cx="2141944" cy="728091"/>
            <a:chOff x="0" y="0"/>
            <a:chExt cx="2855925" cy="9707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967106" y="2766689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83%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85092" y="3314719"/>
            <a:ext cx="5504993" cy="728091"/>
            <a:chOff x="0" y="0"/>
            <a:chExt cx="7339990" cy="9707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39965" cy="970788"/>
            </a:xfrm>
            <a:custGeom>
              <a:avLst/>
              <a:gdLst/>
              <a:ahLst/>
              <a:cxnLst/>
              <a:rect r="r" b="b" t="t" l="l"/>
              <a:pathLst>
                <a:path h="970788" w="7339965">
                  <a:moveTo>
                    <a:pt x="0" y="0"/>
                  </a:moveTo>
                  <a:lnTo>
                    <a:pt x="7339965" y="0"/>
                  </a:lnTo>
                  <a:lnTo>
                    <a:pt x="7339965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093489" y="3480483"/>
            <a:ext cx="5101904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KNN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375778" y="3314719"/>
            <a:ext cx="2141944" cy="728091"/>
            <a:chOff x="0" y="0"/>
            <a:chExt cx="2855925" cy="9707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6584185" y="3480483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86%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503415" y="3314719"/>
            <a:ext cx="2141944" cy="728091"/>
            <a:chOff x="0" y="0"/>
            <a:chExt cx="2855925" cy="9707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8711822" y="3480483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84%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631062" y="3314719"/>
            <a:ext cx="2141944" cy="728091"/>
            <a:chOff x="0" y="0"/>
            <a:chExt cx="2855925" cy="9707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0839469" y="3480483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87%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758699" y="3314719"/>
            <a:ext cx="2141944" cy="728091"/>
            <a:chOff x="0" y="0"/>
            <a:chExt cx="2855925" cy="9707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2967106" y="3480483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85%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85092" y="4028504"/>
            <a:ext cx="5504993" cy="728091"/>
            <a:chOff x="0" y="0"/>
            <a:chExt cx="7339990" cy="9707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39965" cy="970788"/>
            </a:xfrm>
            <a:custGeom>
              <a:avLst/>
              <a:gdLst/>
              <a:ahLst/>
              <a:cxnLst/>
              <a:rect r="r" b="b" t="t" l="l"/>
              <a:pathLst>
                <a:path h="970788" w="7339965">
                  <a:moveTo>
                    <a:pt x="0" y="0"/>
                  </a:moveTo>
                  <a:lnTo>
                    <a:pt x="7339965" y="0"/>
                  </a:lnTo>
                  <a:lnTo>
                    <a:pt x="7339965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937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093489" y="4194267"/>
            <a:ext cx="5101904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Forest ⭐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375778" y="4028504"/>
            <a:ext cx="2141944" cy="728091"/>
            <a:chOff x="0" y="0"/>
            <a:chExt cx="2855925" cy="9707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937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6584185" y="4194267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92%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8503415" y="4028504"/>
            <a:ext cx="2141944" cy="728091"/>
            <a:chOff x="0" y="0"/>
            <a:chExt cx="2855925" cy="9707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937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57" id="57"/>
          <p:cNvSpPr txBox="true"/>
          <p:nvPr/>
        </p:nvSpPr>
        <p:spPr>
          <a:xfrm rot="0">
            <a:off x="8711822" y="4194267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91%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0631062" y="4028504"/>
            <a:ext cx="2141944" cy="728091"/>
            <a:chOff x="0" y="0"/>
            <a:chExt cx="2855925" cy="9707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937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10839469" y="4194267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93%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2758699" y="4028504"/>
            <a:ext cx="2141944" cy="728091"/>
            <a:chOff x="0" y="0"/>
            <a:chExt cx="2855925" cy="9707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937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12967106" y="4194267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92%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85092" y="4742297"/>
            <a:ext cx="5504993" cy="728091"/>
            <a:chOff x="0" y="0"/>
            <a:chExt cx="7339990" cy="9707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39965" cy="970788"/>
            </a:xfrm>
            <a:custGeom>
              <a:avLst/>
              <a:gdLst/>
              <a:ahLst/>
              <a:cxnLst/>
              <a:rect r="r" b="b" t="t" l="l"/>
              <a:pathLst>
                <a:path h="970788" w="7339965">
                  <a:moveTo>
                    <a:pt x="0" y="0"/>
                  </a:moveTo>
                  <a:lnTo>
                    <a:pt x="7339965" y="0"/>
                  </a:lnTo>
                  <a:lnTo>
                    <a:pt x="7339965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1093489" y="4908061"/>
            <a:ext cx="5101904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XGBoost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6375778" y="4742297"/>
            <a:ext cx="2141944" cy="728091"/>
            <a:chOff x="0" y="0"/>
            <a:chExt cx="2855925" cy="9707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69" id="69"/>
          <p:cNvSpPr txBox="true"/>
          <p:nvPr/>
        </p:nvSpPr>
        <p:spPr>
          <a:xfrm rot="0">
            <a:off x="6584185" y="4908061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—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8503415" y="4742297"/>
            <a:ext cx="2141944" cy="728091"/>
            <a:chOff x="0" y="0"/>
            <a:chExt cx="2855925" cy="97078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72" id="72"/>
          <p:cNvSpPr txBox="true"/>
          <p:nvPr/>
        </p:nvSpPr>
        <p:spPr>
          <a:xfrm rot="0">
            <a:off x="8711822" y="4908061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—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0631062" y="4742297"/>
            <a:ext cx="2141944" cy="728091"/>
            <a:chOff x="0" y="0"/>
            <a:chExt cx="2855925" cy="97078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75" id="75"/>
          <p:cNvSpPr txBox="true"/>
          <p:nvPr/>
        </p:nvSpPr>
        <p:spPr>
          <a:xfrm rot="0">
            <a:off x="10839469" y="4908061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—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2758699" y="4742297"/>
            <a:ext cx="2141944" cy="728091"/>
            <a:chOff x="0" y="0"/>
            <a:chExt cx="2855925" cy="97078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78" id="78"/>
          <p:cNvSpPr txBox="true"/>
          <p:nvPr/>
        </p:nvSpPr>
        <p:spPr>
          <a:xfrm rot="0">
            <a:off x="12967106" y="4908061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—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885092" y="5456091"/>
            <a:ext cx="5504993" cy="728091"/>
            <a:chOff x="0" y="0"/>
            <a:chExt cx="7339990" cy="97078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39965" cy="970788"/>
            </a:xfrm>
            <a:custGeom>
              <a:avLst/>
              <a:gdLst/>
              <a:ahLst/>
              <a:cxnLst/>
              <a:rect r="r" b="b" t="t" l="l"/>
              <a:pathLst>
                <a:path h="970788" w="7339965">
                  <a:moveTo>
                    <a:pt x="0" y="0"/>
                  </a:moveTo>
                  <a:lnTo>
                    <a:pt x="7339965" y="0"/>
                  </a:lnTo>
                  <a:lnTo>
                    <a:pt x="7339965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81" id="81"/>
          <p:cNvSpPr txBox="true"/>
          <p:nvPr/>
        </p:nvSpPr>
        <p:spPr>
          <a:xfrm rot="0">
            <a:off x="1093489" y="5621846"/>
            <a:ext cx="5101904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Neural Network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6375778" y="5456091"/>
            <a:ext cx="2141944" cy="728091"/>
            <a:chOff x="0" y="0"/>
            <a:chExt cx="2855925" cy="97078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84" id="84"/>
          <p:cNvSpPr txBox="true"/>
          <p:nvPr/>
        </p:nvSpPr>
        <p:spPr>
          <a:xfrm rot="0">
            <a:off x="6584185" y="5621846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—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8503415" y="5456091"/>
            <a:ext cx="2141944" cy="728091"/>
            <a:chOff x="0" y="0"/>
            <a:chExt cx="2855925" cy="97078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87" id="87"/>
          <p:cNvSpPr txBox="true"/>
          <p:nvPr/>
        </p:nvSpPr>
        <p:spPr>
          <a:xfrm rot="0">
            <a:off x="8711822" y="5621846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—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0631062" y="5456091"/>
            <a:ext cx="2141944" cy="728091"/>
            <a:chOff x="0" y="0"/>
            <a:chExt cx="2855925" cy="9707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90" id="90"/>
          <p:cNvSpPr txBox="true"/>
          <p:nvPr/>
        </p:nvSpPr>
        <p:spPr>
          <a:xfrm rot="0">
            <a:off x="10839469" y="5621846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—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2758699" y="5456091"/>
            <a:ext cx="2141944" cy="728091"/>
            <a:chOff x="0" y="0"/>
            <a:chExt cx="2855925" cy="97078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855976" cy="970788"/>
            </a:xfrm>
            <a:custGeom>
              <a:avLst/>
              <a:gdLst/>
              <a:ahLst/>
              <a:cxnLst/>
              <a:rect r="r" b="b" t="t" l="l"/>
              <a:pathLst>
                <a:path h="970788" w="2855976">
                  <a:moveTo>
                    <a:pt x="0" y="0"/>
                  </a:moveTo>
                  <a:lnTo>
                    <a:pt x="2855976" y="0"/>
                  </a:lnTo>
                  <a:lnTo>
                    <a:pt x="2855976" y="970788"/>
                  </a:lnTo>
                  <a:lnTo>
                    <a:pt x="0" y="970788"/>
                  </a:lnTo>
                  <a:close/>
                </a:path>
              </a:pathLst>
            </a:custGeom>
            <a:solidFill>
              <a:srgbClr val="152337"/>
            </a:solidFill>
            <a:ln w="14299" cap="sq">
              <a:solidFill>
                <a:srgbClr val="080F1C"/>
              </a:solidFill>
              <a:prstDash val="solid"/>
              <a:miter/>
            </a:ln>
          </p:spPr>
        </p:sp>
      </p:grpSp>
      <p:sp>
        <p:nvSpPr>
          <p:cNvPr name="TextBox 93" id="93"/>
          <p:cNvSpPr txBox="true"/>
          <p:nvPr/>
        </p:nvSpPr>
        <p:spPr>
          <a:xfrm rot="0">
            <a:off x="12967106" y="5621846"/>
            <a:ext cx="1738865" cy="35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EEF5FC"/>
                </a:solidFill>
                <a:latin typeface="Calibri (MS)"/>
                <a:ea typeface="Calibri (MS)"/>
                <a:cs typeface="Calibri (MS)"/>
                <a:sym typeface="Calibri (MS)"/>
              </a:rPr>
              <a:t>—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2690072" y="1845955"/>
            <a:ext cx="4612748" cy="2347846"/>
            <a:chOff x="0" y="0"/>
            <a:chExt cx="6150331" cy="313046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150356" cy="3130423"/>
            </a:xfrm>
            <a:custGeom>
              <a:avLst/>
              <a:gdLst/>
              <a:ahLst/>
              <a:cxnLst/>
              <a:rect r="r" b="b" t="t" l="l"/>
              <a:pathLst>
                <a:path h="3130423" w="6150356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5628640" y="0"/>
                  </a:lnTo>
                  <a:cubicBezTo>
                    <a:pt x="5916803" y="0"/>
                    <a:pt x="6150356" y="233553"/>
                    <a:pt x="6150356" y="521716"/>
                  </a:cubicBezTo>
                  <a:lnTo>
                    <a:pt x="6150356" y="2608707"/>
                  </a:lnTo>
                  <a:cubicBezTo>
                    <a:pt x="6150356" y="2896870"/>
                    <a:pt x="5916803" y="3130423"/>
                    <a:pt x="5628640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2697216" y="1853108"/>
            <a:ext cx="82363" cy="2333539"/>
            <a:chOff x="0" y="0"/>
            <a:chExt cx="109817" cy="311138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9855" cy="3111373"/>
            </a:xfrm>
            <a:custGeom>
              <a:avLst/>
              <a:gdLst/>
              <a:ahLst/>
              <a:cxnLst/>
              <a:rect r="r" b="b" t="t" l="l"/>
              <a:pathLst>
                <a:path h="3111373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4CCD82"/>
            </a:solid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3035744" y="2006403"/>
            <a:ext cx="3976316" cy="202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Best Model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Forest ⭐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Illustrative F1 = 92%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12690072" y="4522670"/>
            <a:ext cx="4612748" cy="2141944"/>
            <a:chOff x="0" y="0"/>
            <a:chExt cx="6150331" cy="285592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150356" cy="2855976"/>
            </a:xfrm>
            <a:custGeom>
              <a:avLst/>
              <a:gdLst/>
              <a:ahLst/>
              <a:cxnLst/>
              <a:rect r="r" b="b" t="t" l="l"/>
              <a:pathLst>
                <a:path h="2855976" w="6150356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5674360" y="0"/>
                  </a:lnTo>
                  <a:cubicBezTo>
                    <a:pt x="5937250" y="0"/>
                    <a:pt x="6150356" y="213106"/>
                    <a:pt x="6150356" y="475996"/>
                  </a:cubicBezTo>
                  <a:lnTo>
                    <a:pt x="6150356" y="2379980"/>
                  </a:lnTo>
                  <a:cubicBezTo>
                    <a:pt x="6150356" y="2642870"/>
                    <a:pt x="5937250" y="2855976"/>
                    <a:pt x="5674360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697216" y="4529823"/>
            <a:ext cx="82363" cy="2127647"/>
            <a:chOff x="0" y="0"/>
            <a:chExt cx="109817" cy="283686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855" cy="2836799"/>
            </a:xfrm>
            <a:custGeom>
              <a:avLst/>
              <a:gdLst/>
              <a:ahLst/>
              <a:cxnLst/>
              <a:rect r="r" b="b" t="t" l="l"/>
              <a:pathLst>
                <a:path h="2836799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103" id="103"/>
          <p:cNvSpPr txBox="true"/>
          <p:nvPr/>
        </p:nvSpPr>
        <p:spPr>
          <a:xfrm rot="0">
            <a:off x="13035744" y="4692634"/>
            <a:ext cx="3976316" cy="1809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Confusion Matrix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Actual vs Predicted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TN | FP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FN | TP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12690072" y="6993484"/>
            <a:ext cx="4612748" cy="1592875"/>
            <a:chOff x="0" y="0"/>
            <a:chExt cx="6150331" cy="212383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150356" cy="2123821"/>
            </a:xfrm>
            <a:custGeom>
              <a:avLst/>
              <a:gdLst/>
              <a:ahLst/>
              <a:cxnLst/>
              <a:rect r="r" b="b" t="t" l="l"/>
              <a:pathLst>
                <a:path h="2123821" w="6150356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5796407" y="0"/>
                  </a:lnTo>
                  <a:cubicBezTo>
                    <a:pt x="5991860" y="0"/>
                    <a:pt x="6150356" y="158496"/>
                    <a:pt x="6150356" y="353949"/>
                  </a:cubicBezTo>
                  <a:lnTo>
                    <a:pt x="6150356" y="1769872"/>
                  </a:lnTo>
                  <a:cubicBezTo>
                    <a:pt x="6150356" y="1965325"/>
                    <a:pt x="5991860" y="2123821"/>
                    <a:pt x="5796407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697216" y="7000627"/>
            <a:ext cx="82363" cy="1578569"/>
            <a:chOff x="0" y="0"/>
            <a:chExt cx="109817" cy="210475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9855" cy="2104771"/>
            </a:xfrm>
            <a:custGeom>
              <a:avLst/>
              <a:gdLst/>
              <a:ahLst/>
              <a:cxnLst/>
              <a:rect r="r" b="b" t="t" l="l"/>
              <a:pathLst>
                <a:path h="2104771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108" id="108"/>
          <p:cNvSpPr txBox="true"/>
          <p:nvPr/>
        </p:nvSpPr>
        <p:spPr>
          <a:xfrm rot="0">
            <a:off x="13035744" y="7153923"/>
            <a:ext cx="3976316" cy="126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Other Evaluation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ROC-AUC • Cross-validation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Hyperparameter tuning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892235" y="9828333"/>
            <a:ext cx="16472068" cy="27451"/>
            <a:chOff x="0" y="0"/>
            <a:chExt cx="21962758" cy="3660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11D30"/>
            </a:solidFill>
          </p:spPr>
        </p:sp>
      </p:grpSp>
      <p:sp>
        <p:nvSpPr>
          <p:cNvPr name="TextBox 111" id="111"/>
          <p:cNvSpPr txBox="true"/>
          <p:nvPr/>
        </p:nvSpPr>
        <p:spPr>
          <a:xfrm rot="0">
            <a:off x="16288979" y="9886664"/>
            <a:ext cx="915257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430901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 Solution &amp; Real-World Impact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861" y="1411948"/>
            <a:ext cx="15877384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Network Security Dashboard concept.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3719" y="1845955"/>
            <a:ext cx="3102807" cy="1455601"/>
            <a:chOff x="0" y="0"/>
            <a:chExt cx="4137076" cy="19408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37025" cy="1940814"/>
            </a:xfrm>
            <a:custGeom>
              <a:avLst/>
              <a:gdLst/>
              <a:ahLst/>
              <a:cxnLst/>
              <a:rect r="r" b="b" t="t" l="l"/>
              <a:pathLst>
                <a:path h="1940814" w="4137025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813556" y="0"/>
                  </a:lnTo>
                  <a:cubicBezTo>
                    <a:pt x="3992245" y="0"/>
                    <a:pt x="4137025" y="144780"/>
                    <a:pt x="4137025" y="323469"/>
                  </a:cubicBezTo>
                  <a:lnTo>
                    <a:pt x="4137025" y="1617345"/>
                  </a:lnTo>
                  <a:cubicBezTo>
                    <a:pt x="4137025" y="1796034"/>
                    <a:pt x="3992245" y="1940814"/>
                    <a:pt x="3813556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1853108"/>
            <a:ext cx="82363" cy="1441304"/>
            <a:chOff x="0" y="0"/>
            <a:chExt cx="109817" cy="19217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55" cy="1921764"/>
            </a:xfrm>
            <a:custGeom>
              <a:avLst/>
              <a:gdLst/>
              <a:ahLst/>
              <a:cxnLst/>
              <a:rect r="r" b="b" t="t" l="l"/>
              <a:pathLst>
                <a:path h="1921764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99391" y="2006403"/>
            <a:ext cx="2466375" cy="113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Input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81999" y="2294658"/>
            <a:ext cx="22892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591298" y="1845955"/>
            <a:ext cx="3102807" cy="1455601"/>
            <a:chOff x="0" y="0"/>
            <a:chExt cx="4137076" cy="1940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37025" cy="1940814"/>
            </a:xfrm>
            <a:custGeom>
              <a:avLst/>
              <a:gdLst/>
              <a:ahLst/>
              <a:cxnLst/>
              <a:rect r="r" b="b" t="t" l="l"/>
              <a:pathLst>
                <a:path h="1940814" w="4137025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813556" y="0"/>
                  </a:lnTo>
                  <a:cubicBezTo>
                    <a:pt x="3992245" y="0"/>
                    <a:pt x="4137025" y="144780"/>
                    <a:pt x="4137025" y="323469"/>
                  </a:cubicBezTo>
                  <a:lnTo>
                    <a:pt x="4137025" y="1617345"/>
                  </a:lnTo>
                  <a:cubicBezTo>
                    <a:pt x="4137025" y="1796034"/>
                    <a:pt x="3992245" y="1940814"/>
                    <a:pt x="3813556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98451" y="1853108"/>
            <a:ext cx="82363" cy="1441304"/>
            <a:chOff x="0" y="0"/>
            <a:chExt cx="109817" cy="19217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855" cy="1921764"/>
            </a:xfrm>
            <a:custGeom>
              <a:avLst/>
              <a:gdLst/>
              <a:ahLst/>
              <a:cxnLst/>
              <a:rect r="r" b="b" t="t" l="l"/>
              <a:pathLst>
                <a:path h="1921764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936969" y="2006403"/>
            <a:ext cx="2466375" cy="113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Preprocessing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19587" y="2294658"/>
            <a:ext cx="22892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8886" y="1845955"/>
            <a:ext cx="3102807" cy="1455601"/>
            <a:chOff x="0" y="0"/>
            <a:chExt cx="4137076" cy="19408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37025" cy="1940814"/>
            </a:xfrm>
            <a:custGeom>
              <a:avLst/>
              <a:gdLst/>
              <a:ahLst/>
              <a:cxnLst/>
              <a:rect r="r" b="b" t="t" l="l"/>
              <a:pathLst>
                <a:path h="1940814" w="4137025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813556" y="0"/>
                  </a:lnTo>
                  <a:cubicBezTo>
                    <a:pt x="3992245" y="0"/>
                    <a:pt x="4137025" y="144780"/>
                    <a:pt x="4137025" y="323469"/>
                  </a:cubicBezTo>
                  <a:lnTo>
                    <a:pt x="4137025" y="1617345"/>
                  </a:lnTo>
                  <a:cubicBezTo>
                    <a:pt x="4137025" y="1796034"/>
                    <a:pt x="3992245" y="1940814"/>
                    <a:pt x="3813556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236039" y="1853108"/>
            <a:ext cx="82363" cy="1441304"/>
            <a:chOff x="0" y="0"/>
            <a:chExt cx="109817" cy="19217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855" cy="1921764"/>
            </a:xfrm>
            <a:custGeom>
              <a:avLst/>
              <a:gdLst/>
              <a:ahLst/>
              <a:cxnLst/>
              <a:rect r="r" b="b" t="t" l="l"/>
              <a:pathLst>
                <a:path h="1921764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574557" y="2006403"/>
            <a:ext cx="2466375" cy="113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Forest 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57165" y="2294658"/>
            <a:ext cx="228924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866464" y="1845955"/>
            <a:ext cx="3102807" cy="1455601"/>
            <a:chOff x="0" y="0"/>
            <a:chExt cx="4137076" cy="19408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37025" cy="1940814"/>
            </a:xfrm>
            <a:custGeom>
              <a:avLst/>
              <a:gdLst/>
              <a:ahLst/>
              <a:cxnLst/>
              <a:rect r="r" b="b" t="t" l="l"/>
              <a:pathLst>
                <a:path h="1940814" w="4137025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813556" y="0"/>
                  </a:lnTo>
                  <a:cubicBezTo>
                    <a:pt x="3992245" y="0"/>
                    <a:pt x="4137025" y="144780"/>
                    <a:pt x="4137025" y="323469"/>
                  </a:cubicBezTo>
                  <a:lnTo>
                    <a:pt x="4137025" y="1617345"/>
                  </a:lnTo>
                  <a:cubicBezTo>
                    <a:pt x="4137025" y="1796034"/>
                    <a:pt x="3992245" y="1940814"/>
                    <a:pt x="3813556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873617" y="1853108"/>
            <a:ext cx="82363" cy="1441304"/>
            <a:chOff x="0" y="0"/>
            <a:chExt cx="109817" cy="19217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855" cy="1921764"/>
            </a:xfrm>
            <a:custGeom>
              <a:avLst/>
              <a:gdLst/>
              <a:ahLst/>
              <a:cxnLst/>
              <a:rect r="r" b="b" t="t" l="l"/>
              <a:pathLst>
                <a:path h="1921764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4D97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212136" y="2006403"/>
            <a:ext cx="2466375" cy="113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53719" y="3767699"/>
            <a:ext cx="7701267" cy="3583248"/>
            <a:chOff x="0" y="0"/>
            <a:chExt cx="10268356" cy="47776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68331" cy="4777613"/>
            </a:xfrm>
            <a:custGeom>
              <a:avLst/>
              <a:gdLst/>
              <a:ahLst/>
              <a:cxnLst/>
              <a:rect r="r" b="b" t="t" l="l"/>
              <a:pathLst>
                <a:path h="4777613" w="10268331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lnTo>
                    <a:pt x="9472041" y="0"/>
                  </a:lnTo>
                  <a:cubicBezTo>
                    <a:pt x="9911842" y="0"/>
                    <a:pt x="10268331" y="356489"/>
                    <a:pt x="10268331" y="796290"/>
                  </a:cubicBezTo>
                  <a:lnTo>
                    <a:pt x="10268331" y="3981323"/>
                  </a:lnTo>
                  <a:cubicBezTo>
                    <a:pt x="10268331" y="4421124"/>
                    <a:pt x="9911842" y="4777613"/>
                    <a:pt x="9472041" y="4777613"/>
                  </a:cubicBezTo>
                  <a:lnTo>
                    <a:pt x="796290" y="4777613"/>
                  </a:lnTo>
                  <a:cubicBezTo>
                    <a:pt x="356489" y="4777613"/>
                    <a:pt x="0" y="4421124"/>
                    <a:pt x="0" y="3981323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60872" y="3774853"/>
            <a:ext cx="82363" cy="3568951"/>
            <a:chOff x="0" y="0"/>
            <a:chExt cx="109817" cy="47586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855" cy="4758563"/>
            </a:xfrm>
            <a:custGeom>
              <a:avLst/>
              <a:gdLst/>
              <a:ahLst/>
              <a:cxnLst/>
              <a:rect r="r" b="b" t="t" l="l"/>
              <a:pathLst>
                <a:path h="4758563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4758563"/>
                  </a:lnTo>
                  <a:lnTo>
                    <a:pt x="0" y="4758563"/>
                  </a:lnTo>
                  <a:close/>
                </a:path>
              </a:pathLst>
            </a:custGeom>
            <a:solidFill>
              <a:srgbClr val="4CCD82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99391" y="3928139"/>
            <a:ext cx="7064826" cy="326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 Output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🟢 Normal Traffic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🔴 Attack Detected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Attack Type • Source/Destination information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Traffic statistics • Model prediction • Alert notification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89758" y="3767699"/>
            <a:ext cx="8044434" cy="3583248"/>
            <a:chOff x="0" y="0"/>
            <a:chExt cx="10725912" cy="47776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25912" cy="4777613"/>
            </a:xfrm>
            <a:custGeom>
              <a:avLst/>
              <a:gdLst/>
              <a:ahLst/>
              <a:cxnLst/>
              <a:rect r="r" b="b" t="t" l="l"/>
              <a:pathLst>
                <a:path h="4777613" w="10725912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lnTo>
                    <a:pt x="9929622" y="0"/>
                  </a:lnTo>
                  <a:cubicBezTo>
                    <a:pt x="10369423" y="0"/>
                    <a:pt x="10725912" y="356489"/>
                    <a:pt x="10725912" y="796290"/>
                  </a:cubicBezTo>
                  <a:lnTo>
                    <a:pt x="10725912" y="3981323"/>
                  </a:lnTo>
                  <a:cubicBezTo>
                    <a:pt x="10725912" y="4421124"/>
                    <a:pt x="10369423" y="4777613"/>
                    <a:pt x="9929622" y="4777613"/>
                  </a:cubicBezTo>
                  <a:lnTo>
                    <a:pt x="796290" y="4777613"/>
                  </a:lnTo>
                  <a:cubicBezTo>
                    <a:pt x="356489" y="4777613"/>
                    <a:pt x="0" y="4421124"/>
                    <a:pt x="0" y="3981323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196902" y="3774853"/>
            <a:ext cx="82363" cy="3568951"/>
            <a:chOff x="0" y="0"/>
            <a:chExt cx="109817" cy="475860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855" cy="4758563"/>
            </a:xfrm>
            <a:custGeom>
              <a:avLst/>
              <a:gdLst/>
              <a:ahLst/>
              <a:cxnLst/>
              <a:rect r="r" b="b" t="t" l="l"/>
              <a:pathLst>
                <a:path h="4758563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4758563"/>
                  </a:lnTo>
                  <a:lnTo>
                    <a:pt x="0" y="4758563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535430" y="3928139"/>
            <a:ext cx="7407993" cy="326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Real-World Impact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Detect cyber attacks early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Monitor suspicious traffic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Reduce security risks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Automate network monitoring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Support faster incident response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53719" y="7817082"/>
            <a:ext cx="16280463" cy="1112434"/>
            <a:chOff x="0" y="0"/>
            <a:chExt cx="21707284" cy="148324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707348" cy="1483360"/>
            </a:xfrm>
            <a:custGeom>
              <a:avLst/>
              <a:gdLst/>
              <a:ahLst/>
              <a:cxnLst/>
              <a:rect r="r" b="b" t="t" l="l"/>
              <a:pathLst>
                <a:path h="1483360" w="21707348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1460079" y="0"/>
                  </a:lnTo>
                  <a:cubicBezTo>
                    <a:pt x="21596604" y="0"/>
                    <a:pt x="21707348" y="110744"/>
                    <a:pt x="21707348" y="247269"/>
                  </a:cubicBezTo>
                  <a:lnTo>
                    <a:pt x="21707348" y="1236091"/>
                  </a:lnTo>
                  <a:cubicBezTo>
                    <a:pt x="21707348" y="1372616"/>
                    <a:pt x="21596604" y="1483360"/>
                    <a:pt x="21460079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60872" y="7824235"/>
            <a:ext cx="82363" cy="1098137"/>
            <a:chOff x="0" y="0"/>
            <a:chExt cx="109817" cy="14641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855" cy="1464183"/>
            </a:xfrm>
            <a:custGeom>
              <a:avLst/>
              <a:gdLst/>
              <a:ahLst/>
              <a:cxnLst/>
              <a:rect r="r" b="b" t="t" l="l"/>
              <a:pathLst>
                <a:path h="1464183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1464183"/>
                  </a:lnTo>
                  <a:lnTo>
                    <a:pt x="0" y="1464183"/>
                  </a:lnTo>
                  <a:close/>
                </a:path>
              </a:pathLst>
            </a:custGeom>
            <a:solidFill>
              <a:srgbClr val="EF535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99391" y="7977521"/>
            <a:ext cx="15644031" cy="789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Sample Result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Input: TCP flow with high packet/byte rate → Prediction: 🔴 Attack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92235" y="9828333"/>
            <a:ext cx="16472068" cy="27451"/>
            <a:chOff x="0" y="0"/>
            <a:chExt cx="21962758" cy="3660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11D3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6288979" y="9886664"/>
            <a:ext cx="915257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430901"/>
            <a:ext cx="16151924" cy="10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 &amp; 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861" y="1411948"/>
            <a:ext cx="15877384" cy="5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From network-traffic data to faster, ML-assisted security decisions.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3719" y="1845955"/>
            <a:ext cx="7838532" cy="5367718"/>
            <a:chOff x="0" y="0"/>
            <a:chExt cx="10451376" cy="7156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51465" cy="7156958"/>
            </a:xfrm>
            <a:custGeom>
              <a:avLst/>
              <a:gdLst/>
              <a:ahLst/>
              <a:cxnLst/>
              <a:rect r="r" b="b" t="t" l="l"/>
              <a:pathLst>
                <a:path h="7156958" w="10451465">
                  <a:moveTo>
                    <a:pt x="0" y="1192911"/>
                  </a:moveTo>
                  <a:cubicBezTo>
                    <a:pt x="0" y="534035"/>
                    <a:pt x="534035" y="0"/>
                    <a:pt x="1192911" y="0"/>
                  </a:cubicBezTo>
                  <a:lnTo>
                    <a:pt x="9258554" y="0"/>
                  </a:lnTo>
                  <a:cubicBezTo>
                    <a:pt x="9917303" y="0"/>
                    <a:pt x="10451465" y="534035"/>
                    <a:pt x="10451465" y="1192911"/>
                  </a:cubicBezTo>
                  <a:lnTo>
                    <a:pt x="10451465" y="5964047"/>
                  </a:lnTo>
                  <a:cubicBezTo>
                    <a:pt x="10451465" y="6622796"/>
                    <a:pt x="9917430" y="7156958"/>
                    <a:pt x="9258554" y="7156958"/>
                  </a:cubicBezTo>
                  <a:lnTo>
                    <a:pt x="1192911" y="7156958"/>
                  </a:lnTo>
                  <a:cubicBezTo>
                    <a:pt x="534035" y="7156958"/>
                    <a:pt x="0" y="6622923"/>
                    <a:pt x="0" y="5964047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1853108"/>
            <a:ext cx="82363" cy="5353421"/>
            <a:chOff x="0" y="0"/>
            <a:chExt cx="109817" cy="7137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55" cy="7137908"/>
            </a:xfrm>
            <a:custGeom>
              <a:avLst/>
              <a:gdLst/>
              <a:ahLst/>
              <a:cxnLst/>
              <a:rect r="r" b="b" t="t" l="l"/>
              <a:pathLst>
                <a:path h="713790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7137908"/>
                  </a:lnTo>
                  <a:lnTo>
                    <a:pt x="0" y="7137908"/>
                  </a:lnTo>
                  <a:close/>
                </a:path>
              </a:pathLst>
            </a:custGeom>
            <a:solidFill>
              <a:srgbClr val="4CCD8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99391" y="1996878"/>
            <a:ext cx="7202100" cy="505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solved: classify network traffic as Normal or Attack.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Best model: Random Forest ⭐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Final performance: use actual measured Accuracy / Precision / Recall / F1 / ROC-AUC from your experiment.</a:t>
            </a:r>
          </a:p>
          <a:p>
            <a:pPr algn="l">
              <a:lnSpc>
                <a:spcPts val="2702"/>
              </a:lnSpc>
            </a:pP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Main achievement: an automated intrusion-detection pipeline suitable for a network security dashboard.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58386" y="1845955"/>
            <a:ext cx="7975797" cy="5367718"/>
            <a:chOff x="0" y="0"/>
            <a:chExt cx="10634396" cy="71569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34472" cy="7156958"/>
            </a:xfrm>
            <a:custGeom>
              <a:avLst/>
              <a:gdLst/>
              <a:ahLst/>
              <a:cxnLst/>
              <a:rect r="r" b="b" t="t" l="l"/>
              <a:pathLst>
                <a:path h="7156958" w="10634472">
                  <a:moveTo>
                    <a:pt x="0" y="1192911"/>
                  </a:moveTo>
                  <a:cubicBezTo>
                    <a:pt x="0" y="534035"/>
                    <a:pt x="534035" y="0"/>
                    <a:pt x="1192911" y="0"/>
                  </a:cubicBezTo>
                  <a:lnTo>
                    <a:pt x="9441561" y="0"/>
                  </a:lnTo>
                  <a:cubicBezTo>
                    <a:pt x="10100310" y="0"/>
                    <a:pt x="10634472" y="534035"/>
                    <a:pt x="10634472" y="1192911"/>
                  </a:cubicBezTo>
                  <a:lnTo>
                    <a:pt x="10634472" y="5964047"/>
                  </a:lnTo>
                  <a:cubicBezTo>
                    <a:pt x="10634472" y="6622796"/>
                    <a:pt x="10100437" y="7156958"/>
                    <a:pt x="9441561" y="7156958"/>
                  </a:cubicBezTo>
                  <a:lnTo>
                    <a:pt x="1192911" y="7156958"/>
                  </a:lnTo>
                  <a:cubicBezTo>
                    <a:pt x="534035" y="7156958"/>
                    <a:pt x="0" y="6622923"/>
                    <a:pt x="0" y="5964047"/>
                  </a:cubicBezTo>
                  <a:close/>
                </a:path>
              </a:pathLst>
            </a:custGeom>
            <a:solidFill>
              <a:srgbClr val="111D30"/>
            </a:solidFill>
            <a:ln w="14299" cap="sq">
              <a:solidFill>
                <a:srgbClr val="23374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265539" y="1853108"/>
            <a:ext cx="82363" cy="5353421"/>
            <a:chOff x="0" y="0"/>
            <a:chExt cx="109817" cy="71378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855" cy="7137908"/>
            </a:xfrm>
            <a:custGeom>
              <a:avLst/>
              <a:gdLst/>
              <a:ahLst/>
              <a:cxnLst/>
              <a:rect r="r" b="b" t="t" l="l"/>
              <a:pathLst>
                <a:path h="7137908" w="109855">
                  <a:moveTo>
                    <a:pt x="0" y="0"/>
                  </a:moveTo>
                  <a:lnTo>
                    <a:pt x="109855" y="0"/>
                  </a:lnTo>
                  <a:lnTo>
                    <a:pt x="109855" y="7137908"/>
                  </a:lnTo>
                  <a:lnTo>
                    <a:pt x="0" y="7137908"/>
                  </a:lnTo>
                  <a:close/>
                </a:path>
              </a:pathLst>
            </a:custGeom>
            <a:solidFill>
              <a:srgbClr val="30BEB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604057" y="1996878"/>
            <a:ext cx="7339365" cy="505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Scope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More and newer network data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Better feature engineering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Advanced algorithms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Real-time prediction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Mobile / Web application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Cloud deployment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• More detailed attack-type classification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19391" y="7843333"/>
            <a:ext cx="6955012" cy="130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4"/>
              </a:lnSpc>
            </a:pPr>
            <a:r>
              <a:rPr lang="en-US" sz="4503" b="true">
                <a:solidFill>
                  <a:srgbClr val="EEF5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30BEB4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Questions &amp; Answers?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2235" y="9828333"/>
            <a:ext cx="16472068" cy="27451"/>
            <a:chOff x="0" y="0"/>
            <a:chExt cx="21962758" cy="366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62745" cy="36576"/>
            </a:xfrm>
            <a:custGeom>
              <a:avLst/>
              <a:gdLst/>
              <a:ahLst/>
              <a:cxnLst/>
              <a:rect r="r" b="b" t="t" l="l"/>
              <a:pathLst>
                <a:path h="3657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11D3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288979" y="9886664"/>
            <a:ext cx="915257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A3B4C6"/>
                </a:solidFill>
                <a:latin typeface="Calibri (MS)"/>
                <a:ea typeface="Calibri (MS)"/>
                <a:cs typeface="Calibri (MS)"/>
                <a:sym typeface="Calibri (MS)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DAHUfkLrHds</dc:identifier>
  <dcterms:modified xsi:type="dcterms:W3CDTF">2011-08-01T06:04:30Z</dcterms:modified>
  <cp:revision>1</cp:revision>
  <dc:title>Network_Intrusion_Detection_ML_Presentation.pptx</dc:title>
</cp:coreProperties>
</file>